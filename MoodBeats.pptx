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7" r:id="rId3"/>
    <p:sldId id="257" r:id="rId4"/>
    <p:sldId id="258" r:id="rId5"/>
    <p:sldId id="260" r:id="rId6"/>
    <p:sldId id="259" r:id="rId7"/>
    <p:sldId id="263" r:id="rId8"/>
    <p:sldId id="265" r:id="rId9"/>
  </p:sldIdLst>
  <p:sldSz cx="18288000" cy="10287000"/>
  <p:notesSz cx="6858000" cy="9144000"/>
  <p:embeddedFontLst>
    <p:embeddedFont>
      <p:font typeface="Barrio" panose="020B0604020202020204" charset="0"/>
      <p:regular r:id="rId10"/>
    </p:embeddedFont>
    <p:embeddedFont>
      <p:font typeface="Quicksand" panose="020B0604020202020204" charset="0"/>
      <p:regular r:id="rId11"/>
    </p:embeddedFont>
    <p:embeddedFont>
      <p:font typeface="Times New Roman MT" panose="020B0604020202020204" charset="0"/>
      <p:regular r:id="rId12"/>
    </p:embeddedFont>
    <p:embeddedFont>
      <p:font typeface="Times New Roman MT Bold" panose="020B0604020202020204" charset="0"/>
      <p:regular r:id="rId13"/>
    </p:embeddedFont>
    <p:embeddedFont>
      <p:font typeface="Times New Roman MT Bold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svg"/><Relationship Id="rId7" Type="http://schemas.openxmlformats.org/officeDocument/2006/relationships/image" Target="../media/image16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svg"/><Relationship Id="rId7" Type="http://schemas.openxmlformats.org/officeDocument/2006/relationships/image" Target="../media/image23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6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svg"/><Relationship Id="rId7" Type="http://schemas.openxmlformats.org/officeDocument/2006/relationships/image" Target="../media/image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5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2ED6-C524-8D43-B83F-C540284E2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4D9A6F-C764-69E5-710D-1A6D81FF68B2}"/>
              </a:ext>
            </a:extLst>
          </p:cNvPr>
          <p:cNvSpPr/>
          <p:nvPr/>
        </p:nvSpPr>
        <p:spPr>
          <a:xfrm>
            <a:off x="13039347" y="3200118"/>
            <a:ext cx="5954295" cy="7272421"/>
          </a:xfrm>
          <a:custGeom>
            <a:avLst/>
            <a:gdLst/>
            <a:ahLst/>
            <a:cxnLst/>
            <a:rect l="l" t="t" r="r" b="b"/>
            <a:pathLst>
              <a:path w="5954295" h="7272421">
                <a:moveTo>
                  <a:pt x="0" y="0"/>
                </a:moveTo>
                <a:lnTo>
                  <a:pt x="5954295" y="0"/>
                </a:lnTo>
                <a:lnTo>
                  <a:pt x="5954295" y="7272421"/>
                </a:lnTo>
                <a:lnTo>
                  <a:pt x="0" y="7272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2A370D-7640-7BD3-71B0-E5B2BA073D0D}"/>
              </a:ext>
            </a:extLst>
          </p:cNvPr>
          <p:cNvSpPr txBox="1"/>
          <p:nvPr/>
        </p:nvSpPr>
        <p:spPr>
          <a:xfrm>
            <a:off x="533400" y="3390900"/>
            <a:ext cx="12649200" cy="3077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7441" b="1" i="1" dirty="0" err="1">
                <a:solidFill>
                  <a:srgbClr val="4B3727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MoodBeats</a:t>
            </a:r>
            <a:r>
              <a:rPr lang="en-US" sz="7441" b="1" i="1" dirty="0">
                <a:solidFill>
                  <a:srgbClr val="E0DFE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</a:t>
            </a:r>
            <a:r>
              <a:rPr lang="en-US" sz="7441" b="1" dirty="0">
                <a:solidFill>
                  <a:srgbClr val="6B4C3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–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6B4C3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(</a:t>
            </a:r>
            <a:r>
              <a:rPr lang="en-US" sz="3641" dirty="0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AI-Powered Music &amp; Product Recommendation System)</a:t>
            </a:r>
          </a:p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6B4C35"/>
                </a:solidFill>
                <a:latin typeface="Quicksand"/>
                <a:ea typeface="Quicksand"/>
                <a:cs typeface="Quicksand"/>
                <a:sym typeface="Quicksand"/>
              </a:rPr>
              <a:t> Domain: Artificial Intelligence / Web Development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8104DEE-16F4-E332-C297-C7B713BBC9F8}"/>
              </a:ext>
            </a:extLst>
          </p:cNvPr>
          <p:cNvSpPr/>
          <p:nvPr/>
        </p:nvSpPr>
        <p:spPr>
          <a:xfrm>
            <a:off x="152401" y="2857500"/>
            <a:ext cx="13868400" cy="76200"/>
          </a:xfrm>
          <a:prstGeom prst="line">
            <a:avLst/>
          </a:prstGeom>
          <a:ln w="76200" cap="flat">
            <a:solidFill>
              <a:srgbClr val="1D1819">
                <a:alpha val="3098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C8E3B52C-2C29-F2A8-8DC7-C6E56F1C28BD}"/>
              </a:ext>
            </a:extLst>
          </p:cNvPr>
          <p:cNvSpPr/>
          <p:nvPr/>
        </p:nvSpPr>
        <p:spPr>
          <a:xfrm>
            <a:off x="140111" y="7315201"/>
            <a:ext cx="13868400" cy="76200"/>
          </a:xfrm>
          <a:prstGeom prst="line">
            <a:avLst/>
          </a:prstGeom>
          <a:ln w="76200" cap="flat">
            <a:solidFill>
              <a:srgbClr val="1D1819">
                <a:alpha val="3098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84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3733-69C1-F6C7-8346-79F6263E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331140-0E67-2D53-22AA-C569677799BE}"/>
              </a:ext>
            </a:extLst>
          </p:cNvPr>
          <p:cNvSpPr/>
          <p:nvPr/>
        </p:nvSpPr>
        <p:spPr>
          <a:xfrm>
            <a:off x="13039347" y="3200118"/>
            <a:ext cx="5954295" cy="7272421"/>
          </a:xfrm>
          <a:custGeom>
            <a:avLst/>
            <a:gdLst/>
            <a:ahLst/>
            <a:cxnLst/>
            <a:rect l="l" t="t" r="r" b="b"/>
            <a:pathLst>
              <a:path w="5954295" h="7272421">
                <a:moveTo>
                  <a:pt x="0" y="0"/>
                </a:moveTo>
                <a:lnTo>
                  <a:pt x="5954295" y="0"/>
                </a:lnTo>
                <a:lnTo>
                  <a:pt x="5954295" y="7272421"/>
                </a:lnTo>
                <a:lnTo>
                  <a:pt x="0" y="7272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45B68B1-6D39-FC16-4461-CFC9662F0190}"/>
              </a:ext>
            </a:extLst>
          </p:cNvPr>
          <p:cNvSpPr/>
          <p:nvPr/>
        </p:nvSpPr>
        <p:spPr>
          <a:xfrm>
            <a:off x="762000" y="2264410"/>
            <a:ext cx="16840200" cy="135890"/>
          </a:xfrm>
          <a:prstGeom prst="line">
            <a:avLst/>
          </a:prstGeom>
          <a:ln w="76200" cap="flat">
            <a:solidFill>
              <a:srgbClr val="1D1819">
                <a:alpha val="3098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FD1AF73-AD71-3D73-BAA9-13F89BEB2A5E}"/>
              </a:ext>
            </a:extLst>
          </p:cNvPr>
          <p:cNvSpPr txBox="1"/>
          <p:nvPr/>
        </p:nvSpPr>
        <p:spPr>
          <a:xfrm>
            <a:off x="990600" y="2705100"/>
            <a:ext cx="4953000" cy="5733621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95275" indent="-290830">
              <a:lnSpc>
                <a:spcPct val="100000"/>
              </a:lnSpc>
              <a:spcBef>
                <a:spcPts val="1150"/>
              </a:spcBef>
              <a:buClr>
                <a:srgbClr val="404040"/>
              </a:buClr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4400" spc="-10" dirty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  <a:p>
            <a:pPr marL="295275" indent="-290830">
              <a:lnSpc>
                <a:spcPct val="100000"/>
              </a:lnSpc>
              <a:spcBef>
                <a:spcPts val="105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4400" dirty="0">
                <a:latin typeface="Times New Roman"/>
                <a:cs typeface="Times New Roman"/>
              </a:rPr>
              <a:t>Literature</a:t>
            </a:r>
            <a:r>
              <a:rPr sz="4400" spc="14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Review</a:t>
            </a:r>
            <a:endParaRPr sz="4400" dirty="0">
              <a:latin typeface="Times New Roman"/>
              <a:cs typeface="Times New Roman"/>
            </a:endParaRPr>
          </a:p>
          <a:p>
            <a:pPr marL="294640" indent="-290195">
              <a:lnSpc>
                <a:spcPct val="100000"/>
              </a:lnSpc>
              <a:spcBef>
                <a:spcPts val="105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4400" spc="-10" dirty="0">
                <a:latin typeface="Times New Roman"/>
                <a:cs typeface="Times New Roman"/>
              </a:rPr>
              <a:t>Objective</a:t>
            </a:r>
            <a:endParaRPr sz="4400" dirty="0">
              <a:latin typeface="Times New Roman"/>
              <a:cs typeface="Times New Roman"/>
            </a:endParaRPr>
          </a:p>
          <a:p>
            <a:pPr marL="295275" indent="-290830">
              <a:lnSpc>
                <a:spcPct val="100000"/>
              </a:lnSpc>
              <a:spcBef>
                <a:spcPts val="113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4400" dirty="0">
                <a:latin typeface="Times New Roman"/>
                <a:cs typeface="Times New Roman"/>
              </a:rPr>
              <a:t>Problem</a:t>
            </a:r>
            <a:r>
              <a:rPr sz="4400" spc="15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Statement</a:t>
            </a:r>
            <a:endParaRPr sz="4400" dirty="0">
              <a:latin typeface="Times New Roman"/>
              <a:cs typeface="Times New Roman"/>
            </a:endParaRPr>
          </a:p>
          <a:p>
            <a:pPr marL="294640" indent="-290195">
              <a:lnSpc>
                <a:spcPct val="100000"/>
              </a:lnSpc>
              <a:spcBef>
                <a:spcPts val="105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4400" dirty="0">
                <a:latin typeface="Times New Roman"/>
                <a:cs typeface="Times New Roman"/>
              </a:rPr>
              <a:t>Existing</a:t>
            </a:r>
            <a:r>
              <a:rPr sz="4400" spc="13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System</a:t>
            </a:r>
            <a:endParaRPr sz="4400" dirty="0">
              <a:latin typeface="Times New Roman"/>
              <a:cs typeface="Times New Roman"/>
            </a:endParaRPr>
          </a:p>
          <a:p>
            <a:pPr marL="295275" indent="-290830">
              <a:lnSpc>
                <a:spcPct val="100000"/>
              </a:lnSpc>
              <a:spcBef>
                <a:spcPts val="106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4400" dirty="0">
                <a:latin typeface="Times New Roman"/>
                <a:cs typeface="Times New Roman"/>
              </a:rPr>
              <a:t>Proposed</a:t>
            </a:r>
            <a:r>
              <a:rPr sz="4400" spc="160" dirty="0">
                <a:latin typeface="Times New Roman"/>
                <a:cs typeface="Times New Roman"/>
              </a:rPr>
              <a:t> </a:t>
            </a:r>
            <a:r>
              <a:rPr sz="4400" spc="-20" dirty="0">
                <a:latin typeface="Times New Roman"/>
                <a:cs typeface="Times New Roman"/>
              </a:rPr>
              <a:t>Plan</a:t>
            </a:r>
            <a:endParaRPr sz="4400" dirty="0">
              <a:latin typeface="Times New Roman"/>
              <a:cs typeface="Times New Roman"/>
            </a:endParaRPr>
          </a:p>
          <a:p>
            <a:pPr marL="384175" indent="-371475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384175" algn="l"/>
              </a:tabLst>
            </a:pPr>
            <a:r>
              <a:rPr sz="4400" spc="-10" dirty="0">
                <a:latin typeface="Times New Roman"/>
                <a:cs typeface="Times New Roman"/>
              </a:rPr>
              <a:t>References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8944A-3E2A-EC9E-50A8-C56C8C9D3138}"/>
              </a:ext>
            </a:extLst>
          </p:cNvPr>
          <p:cNvSpPr txBox="1"/>
          <p:nvPr/>
        </p:nvSpPr>
        <p:spPr>
          <a:xfrm>
            <a:off x="2209800" y="726660"/>
            <a:ext cx="128310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0800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51593" y="2846593"/>
            <a:ext cx="12149702" cy="5080784"/>
          </a:xfrm>
          <a:custGeom>
            <a:avLst/>
            <a:gdLst/>
            <a:ahLst/>
            <a:cxnLst/>
            <a:rect l="l" t="t" r="r" b="b"/>
            <a:pathLst>
              <a:path w="12149702" h="5080784">
                <a:moveTo>
                  <a:pt x="0" y="0"/>
                </a:moveTo>
                <a:lnTo>
                  <a:pt x="12149702" y="0"/>
                </a:lnTo>
                <a:lnTo>
                  <a:pt x="12149702" y="5080784"/>
                </a:lnTo>
                <a:lnTo>
                  <a:pt x="0" y="5080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07284" y="3247076"/>
            <a:ext cx="11818094" cy="528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744" lvl="1" indent="-381872" algn="ctr">
              <a:lnSpc>
                <a:spcPts val="4032"/>
              </a:lnSpc>
              <a:buFont typeface="Arial"/>
              <a:buChar char="•"/>
            </a:pPr>
            <a:r>
              <a:rPr lang="en-US" sz="3537" dirty="0" err="1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MoodBeats</a:t>
            </a:r>
            <a:r>
              <a:rPr lang="en-US" sz="3537" dirty="0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is an AI-based web application that </a:t>
            </a:r>
            <a:r>
              <a:rPr lang="en-US" sz="3537" b="1" i="1" dirty="0">
                <a:solidFill>
                  <a:srgbClr val="584843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recommends songs</a:t>
            </a:r>
            <a:r>
              <a:rPr lang="en-US" sz="3537" b="1" dirty="0">
                <a:solidFill>
                  <a:srgbClr val="58484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537" dirty="0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products based on the </a:t>
            </a:r>
            <a:r>
              <a:rPr lang="en-US" sz="3537" b="1" i="1" dirty="0">
                <a:solidFill>
                  <a:srgbClr val="584843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user’s real-time emotions.</a:t>
            </a:r>
          </a:p>
          <a:p>
            <a:pPr algn="ctr">
              <a:lnSpc>
                <a:spcPts val="4032"/>
              </a:lnSpc>
            </a:pPr>
            <a:endParaRPr lang="en-US" sz="3537" b="1" i="1" dirty="0">
              <a:solidFill>
                <a:srgbClr val="584843"/>
              </a:solidFill>
              <a:latin typeface="Times New Roman MT Bold Italics"/>
              <a:ea typeface="Times New Roman MT Bold Italics"/>
              <a:cs typeface="Times New Roman MT Bold Italics"/>
              <a:sym typeface="Times New Roman MT Bold Italics"/>
            </a:endParaRPr>
          </a:p>
          <a:p>
            <a:pPr marL="763744" lvl="1" indent="-381872" algn="ctr">
              <a:lnSpc>
                <a:spcPts val="4032"/>
              </a:lnSpc>
              <a:buFont typeface="Arial"/>
              <a:buChar char="•"/>
            </a:pPr>
            <a:r>
              <a:rPr lang="en-US" sz="3537" dirty="0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facial emotion detection to personalize the user’s experience.</a:t>
            </a:r>
          </a:p>
          <a:p>
            <a:pPr algn="ctr">
              <a:lnSpc>
                <a:spcPts val="4032"/>
              </a:lnSpc>
            </a:pPr>
            <a:endParaRPr lang="en-US" sz="3537" dirty="0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63744" lvl="1" indent="-381872" algn="ctr">
              <a:lnSpc>
                <a:spcPts val="4032"/>
              </a:lnSpc>
              <a:buFont typeface="Arial"/>
              <a:buChar char="•"/>
            </a:pPr>
            <a:r>
              <a:rPr lang="en-US" sz="3537" dirty="0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Integrates music streaming and product suggestions into one platform.</a:t>
            </a:r>
          </a:p>
          <a:p>
            <a:pPr algn="ctr">
              <a:lnSpc>
                <a:spcPts val="5259"/>
              </a:lnSpc>
            </a:pPr>
            <a:endParaRPr lang="en-US" sz="3537" dirty="0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596456" y="2292653"/>
            <a:ext cx="5455137" cy="8041972"/>
          </a:xfrm>
          <a:custGeom>
            <a:avLst/>
            <a:gdLst/>
            <a:ahLst/>
            <a:cxnLst/>
            <a:rect l="l" t="t" r="r" b="b"/>
            <a:pathLst>
              <a:path w="5455137" h="8041972">
                <a:moveTo>
                  <a:pt x="5455137" y="0"/>
                </a:moveTo>
                <a:lnTo>
                  <a:pt x="0" y="0"/>
                </a:lnTo>
                <a:lnTo>
                  <a:pt x="0" y="8041972"/>
                </a:lnTo>
                <a:lnTo>
                  <a:pt x="5455137" y="8041972"/>
                </a:lnTo>
                <a:lnTo>
                  <a:pt x="545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46478" y="821666"/>
            <a:ext cx="4246418" cy="2995494"/>
          </a:xfrm>
          <a:custGeom>
            <a:avLst/>
            <a:gdLst/>
            <a:ahLst/>
            <a:cxnLst/>
            <a:rect l="l" t="t" r="r" b="b"/>
            <a:pathLst>
              <a:path w="4246418" h="2995494">
                <a:moveTo>
                  <a:pt x="0" y="0"/>
                </a:moveTo>
                <a:lnTo>
                  <a:pt x="4246418" y="0"/>
                </a:lnTo>
                <a:lnTo>
                  <a:pt x="4246418" y="2995493"/>
                </a:lnTo>
                <a:lnTo>
                  <a:pt x="0" y="29954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329179" y="6383029"/>
            <a:ext cx="2939215" cy="1987978"/>
          </a:xfrm>
          <a:custGeom>
            <a:avLst/>
            <a:gdLst/>
            <a:ahLst/>
            <a:cxnLst/>
            <a:rect l="l" t="t" r="r" b="b"/>
            <a:pathLst>
              <a:path w="2939215" h="1987978">
                <a:moveTo>
                  <a:pt x="0" y="0"/>
                </a:moveTo>
                <a:lnTo>
                  <a:pt x="2939215" y="0"/>
                </a:lnTo>
                <a:lnTo>
                  <a:pt x="2939215" y="1987979"/>
                </a:lnTo>
                <a:lnTo>
                  <a:pt x="0" y="1987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65451" y="7927377"/>
            <a:ext cx="1116690" cy="887261"/>
          </a:xfrm>
          <a:custGeom>
            <a:avLst/>
            <a:gdLst/>
            <a:ahLst/>
            <a:cxnLst/>
            <a:rect l="l" t="t" r="r" b="b"/>
            <a:pathLst>
              <a:path w="1116690" h="887261">
                <a:moveTo>
                  <a:pt x="0" y="0"/>
                </a:moveTo>
                <a:lnTo>
                  <a:pt x="1116690" y="0"/>
                </a:lnTo>
                <a:lnTo>
                  <a:pt x="1116690" y="887261"/>
                </a:lnTo>
                <a:lnTo>
                  <a:pt x="0" y="887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23796" y="1098853"/>
            <a:ext cx="904040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51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96787" y="3273493"/>
            <a:ext cx="11772900" cy="4923213"/>
          </a:xfrm>
          <a:custGeom>
            <a:avLst/>
            <a:gdLst/>
            <a:ahLst/>
            <a:cxnLst/>
            <a:rect l="l" t="t" r="r" b="b"/>
            <a:pathLst>
              <a:path w="11772900" h="4923213">
                <a:moveTo>
                  <a:pt x="0" y="0"/>
                </a:moveTo>
                <a:lnTo>
                  <a:pt x="11772900" y="0"/>
                </a:lnTo>
                <a:lnTo>
                  <a:pt x="11772900" y="4923212"/>
                </a:lnTo>
                <a:lnTo>
                  <a:pt x="0" y="492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9402" y="1518571"/>
            <a:ext cx="6481331" cy="8768429"/>
          </a:xfrm>
          <a:custGeom>
            <a:avLst/>
            <a:gdLst/>
            <a:ahLst/>
            <a:cxnLst/>
            <a:rect l="l" t="t" r="r" b="b"/>
            <a:pathLst>
              <a:path w="6481331" h="8768429">
                <a:moveTo>
                  <a:pt x="0" y="0"/>
                </a:moveTo>
                <a:lnTo>
                  <a:pt x="6481331" y="0"/>
                </a:lnTo>
                <a:lnTo>
                  <a:pt x="6481331" y="8768429"/>
                </a:lnTo>
                <a:lnTo>
                  <a:pt x="0" y="8768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721296">
            <a:off x="15278287" y="1028700"/>
            <a:ext cx="1981013" cy="2057400"/>
          </a:xfrm>
          <a:custGeom>
            <a:avLst/>
            <a:gdLst/>
            <a:ahLst/>
            <a:cxnLst/>
            <a:rect l="l" t="t" r="r" b="b"/>
            <a:pathLst>
              <a:path w="1981013" h="2057400">
                <a:moveTo>
                  <a:pt x="0" y="0"/>
                </a:moveTo>
                <a:lnTo>
                  <a:pt x="1981013" y="0"/>
                </a:lnTo>
                <a:lnTo>
                  <a:pt x="19810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05752" y="3501851"/>
            <a:ext cx="11325779" cy="523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8785" lvl="1" indent="-429393" algn="ctr">
              <a:lnSpc>
                <a:spcPts val="4534"/>
              </a:lnSpc>
              <a:buFont typeface="Arial"/>
              <a:buChar char="•"/>
            </a:pPr>
            <a:r>
              <a:rPr lang="en-US" sz="3977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create a platform that detects user emotions using facial expressions.</a:t>
            </a:r>
          </a:p>
          <a:p>
            <a:pPr algn="ctr">
              <a:lnSpc>
                <a:spcPts val="4534"/>
              </a:lnSpc>
            </a:pPr>
            <a:endParaRPr lang="en-US" sz="3977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58785" lvl="1" indent="-429393" algn="ctr">
              <a:lnSpc>
                <a:spcPts val="4534"/>
              </a:lnSpc>
              <a:buFont typeface="Arial"/>
              <a:buChar char="•"/>
            </a:pPr>
            <a:r>
              <a:rPr lang="en-US" sz="3977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recommend songs and products suitable to the detected mood.</a:t>
            </a:r>
          </a:p>
          <a:p>
            <a:pPr algn="ctr">
              <a:lnSpc>
                <a:spcPts val="4534"/>
              </a:lnSpc>
            </a:pPr>
            <a:endParaRPr lang="en-US" sz="3977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58785" lvl="1" indent="-429393" algn="ctr">
              <a:lnSpc>
                <a:spcPts val="4534"/>
              </a:lnSpc>
              <a:buFont typeface="Arial"/>
              <a:buChar char="•"/>
            </a:pPr>
            <a:r>
              <a:rPr lang="en-US" sz="3977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make the user’s experience personalized and interactive.</a:t>
            </a:r>
          </a:p>
          <a:p>
            <a:pPr algn="ctr">
              <a:lnSpc>
                <a:spcPts val="4534"/>
              </a:lnSpc>
            </a:pPr>
            <a:endParaRPr lang="en-US" sz="3977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12175" y="5229523"/>
            <a:ext cx="1472878" cy="1832767"/>
          </a:xfrm>
          <a:custGeom>
            <a:avLst/>
            <a:gdLst/>
            <a:ahLst/>
            <a:cxnLst/>
            <a:rect l="l" t="t" r="r" b="b"/>
            <a:pathLst>
              <a:path w="1472878" h="1832767">
                <a:moveTo>
                  <a:pt x="0" y="0"/>
                </a:moveTo>
                <a:lnTo>
                  <a:pt x="1472878" y="0"/>
                </a:lnTo>
                <a:lnTo>
                  <a:pt x="1472878" y="1832766"/>
                </a:lnTo>
                <a:lnTo>
                  <a:pt x="0" y="1832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63033" y="1655837"/>
            <a:ext cx="904040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51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90013" y="3252596"/>
            <a:ext cx="12383873" cy="5178711"/>
          </a:xfrm>
          <a:custGeom>
            <a:avLst/>
            <a:gdLst/>
            <a:ahLst/>
            <a:cxnLst/>
            <a:rect l="l" t="t" r="r" b="b"/>
            <a:pathLst>
              <a:path w="12383873" h="5178711">
                <a:moveTo>
                  <a:pt x="0" y="0"/>
                </a:moveTo>
                <a:lnTo>
                  <a:pt x="12383874" y="0"/>
                </a:lnTo>
                <a:lnTo>
                  <a:pt x="12383874" y="5178711"/>
                </a:lnTo>
                <a:lnTo>
                  <a:pt x="0" y="5178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176" y="1162380"/>
            <a:ext cx="2161674" cy="1388875"/>
          </a:xfrm>
          <a:custGeom>
            <a:avLst/>
            <a:gdLst/>
            <a:ahLst/>
            <a:cxnLst/>
            <a:rect l="l" t="t" r="r" b="b"/>
            <a:pathLst>
              <a:path w="2161674" h="1388875">
                <a:moveTo>
                  <a:pt x="0" y="0"/>
                </a:moveTo>
                <a:lnTo>
                  <a:pt x="2161674" y="0"/>
                </a:lnTo>
                <a:lnTo>
                  <a:pt x="2161674" y="1388876"/>
                </a:lnTo>
                <a:lnTo>
                  <a:pt x="0" y="13888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49391" y="566594"/>
            <a:ext cx="3765307" cy="924212"/>
          </a:xfrm>
          <a:custGeom>
            <a:avLst/>
            <a:gdLst/>
            <a:ahLst/>
            <a:cxnLst/>
            <a:rect l="l" t="t" r="r" b="b"/>
            <a:pathLst>
              <a:path w="3765307" h="924212">
                <a:moveTo>
                  <a:pt x="0" y="0"/>
                </a:moveTo>
                <a:lnTo>
                  <a:pt x="3765307" y="0"/>
                </a:lnTo>
                <a:lnTo>
                  <a:pt x="3765307" y="924212"/>
                </a:lnTo>
                <a:lnTo>
                  <a:pt x="0" y="924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56648" y="2021031"/>
            <a:ext cx="5585486" cy="7993540"/>
          </a:xfrm>
          <a:custGeom>
            <a:avLst/>
            <a:gdLst/>
            <a:ahLst/>
            <a:cxnLst/>
            <a:rect l="l" t="t" r="r" b="b"/>
            <a:pathLst>
              <a:path w="5585486" h="7993540">
                <a:moveTo>
                  <a:pt x="0" y="0"/>
                </a:moveTo>
                <a:lnTo>
                  <a:pt x="5585486" y="0"/>
                </a:lnTo>
                <a:lnTo>
                  <a:pt x="5585486" y="7993540"/>
                </a:lnTo>
                <a:lnTo>
                  <a:pt x="0" y="7993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285454" y="9381993"/>
            <a:ext cx="1776866" cy="455524"/>
          </a:xfrm>
          <a:custGeom>
            <a:avLst/>
            <a:gdLst/>
            <a:ahLst/>
            <a:cxnLst/>
            <a:rect l="l" t="t" r="r" b="b"/>
            <a:pathLst>
              <a:path w="1776866" h="455524">
                <a:moveTo>
                  <a:pt x="0" y="0"/>
                </a:moveTo>
                <a:lnTo>
                  <a:pt x="1776865" y="0"/>
                </a:lnTo>
                <a:lnTo>
                  <a:pt x="1776865" y="455524"/>
                </a:lnTo>
                <a:lnTo>
                  <a:pt x="0" y="455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10089" y="8186396"/>
            <a:ext cx="927596" cy="927596"/>
          </a:xfrm>
          <a:custGeom>
            <a:avLst/>
            <a:gdLst/>
            <a:ahLst/>
            <a:cxnLst/>
            <a:rect l="l" t="t" r="r" b="b"/>
            <a:pathLst>
              <a:path w="927596" h="927596">
                <a:moveTo>
                  <a:pt x="0" y="0"/>
                </a:moveTo>
                <a:lnTo>
                  <a:pt x="927595" y="0"/>
                </a:lnTo>
                <a:lnTo>
                  <a:pt x="927595" y="927596"/>
                </a:lnTo>
                <a:lnTo>
                  <a:pt x="0" y="927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50454" y="1357456"/>
            <a:ext cx="994619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51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0801" y="3514384"/>
            <a:ext cx="11794653" cy="461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0341" lvl="1" indent="-465170" algn="ctr">
              <a:lnSpc>
                <a:spcPts val="3705"/>
              </a:lnSpc>
              <a:buFont typeface="Arial"/>
              <a:buChar char="•"/>
            </a:pPr>
            <a:r>
              <a:rPr lang="en-US" sz="4309" spc="314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recommendation systems are not emotion-aware.</a:t>
            </a:r>
          </a:p>
          <a:p>
            <a:pPr algn="ctr">
              <a:lnSpc>
                <a:spcPts val="3705"/>
              </a:lnSpc>
            </a:pPr>
            <a:endParaRPr lang="en-US" sz="4309" spc="314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3529"/>
              </a:lnSpc>
            </a:pPr>
            <a:endParaRPr lang="en-US" sz="4309" spc="314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86038" lvl="1" indent="-443019" algn="ctr">
              <a:lnSpc>
                <a:spcPts val="3529"/>
              </a:lnSpc>
              <a:buFont typeface="Arial"/>
              <a:buChar char="•"/>
            </a:pPr>
            <a:r>
              <a:rPr lang="en-US" sz="4103" spc="299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Users often spend time finding content that matches their mood.</a:t>
            </a:r>
          </a:p>
          <a:p>
            <a:pPr algn="ctr">
              <a:lnSpc>
                <a:spcPts val="3529"/>
              </a:lnSpc>
            </a:pPr>
            <a:endParaRPr lang="en-US" sz="4103" spc="299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3529"/>
              </a:lnSpc>
            </a:pPr>
            <a:endParaRPr lang="en-US" sz="4103" spc="299">
              <a:solidFill>
                <a:srgbClr val="584843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86038" lvl="1" indent="-443019" algn="ctr">
              <a:lnSpc>
                <a:spcPts val="3529"/>
              </a:lnSpc>
              <a:buFont typeface="Arial"/>
              <a:buChar char="•"/>
            </a:pPr>
            <a:r>
              <a:rPr lang="en-US" sz="4103" spc="299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Lack of real-time personalization in both music and shopping platforms.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5009" y="3273493"/>
            <a:ext cx="12394678" cy="5183229"/>
          </a:xfrm>
          <a:custGeom>
            <a:avLst/>
            <a:gdLst/>
            <a:ahLst/>
            <a:cxnLst/>
            <a:rect l="l" t="t" r="r" b="b"/>
            <a:pathLst>
              <a:path w="12394678" h="5183229">
                <a:moveTo>
                  <a:pt x="0" y="0"/>
                </a:moveTo>
                <a:lnTo>
                  <a:pt x="12394678" y="0"/>
                </a:lnTo>
                <a:lnTo>
                  <a:pt x="12394678" y="5183229"/>
                </a:lnTo>
                <a:lnTo>
                  <a:pt x="0" y="5183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721296">
            <a:off x="15278287" y="1028700"/>
            <a:ext cx="1981013" cy="2057400"/>
          </a:xfrm>
          <a:custGeom>
            <a:avLst/>
            <a:gdLst/>
            <a:ahLst/>
            <a:cxnLst/>
            <a:rect l="l" t="t" r="r" b="b"/>
            <a:pathLst>
              <a:path w="1981013" h="2057400">
                <a:moveTo>
                  <a:pt x="0" y="0"/>
                </a:moveTo>
                <a:lnTo>
                  <a:pt x="1981013" y="0"/>
                </a:lnTo>
                <a:lnTo>
                  <a:pt x="19810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7995" y="2037801"/>
            <a:ext cx="6527179" cy="8249199"/>
          </a:xfrm>
          <a:custGeom>
            <a:avLst/>
            <a:gdLst/>
            <a:ahLst/>
            <a:cxnLst/>
            <a:rect l="l" t="t" r="r" b="b"/>
            <a:pathLst>
              <a:path w="6527179" h="8249199">
                <a:moveTo>
                  <a:pt x="0" y="0"/>
                </a:moveTo>
                <a:lnTo>
                  <a:pt x="6527179" y="0"/>
                </a:lnTo>
                <a:lnTo>
                  <a:pt x="6527179" y="8249199"/>
                </a:lnTo>
                <a:lnTo>
                  <a:pt x="0" y="8249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20876" y="1573376"/>
            <a:ext cx="904040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51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existing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39434" y="3631217"/>
            <a:ext cx="11092097" cy="523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4" lvl="1" indent="-431802" algn="ctr">
              <a:lnSpc>
                <a:spcPts val="4560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Music apps recommend based on listening history, not mood.</a:t>
            </a:r>
          </a:p>
          <a:p>
            <a:pPr algn="ctr">
              <a:lnSpc>
                <a:spcPts val="4560"/>
              </a:lnSpc>
            </a:pPr>
            <a:endParaRPr lang="en-US" sz="4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63604" lvl="1" indent="-431802" algn="ctr">
              <a:lnSpc>
                <a:spcPts val="4560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E-commerce sites suggest products based on search patterns only.</a:t>
            </a:r>
          </a:p>
          <a:p>
            <a:pPr algn="ctr">
              <a:lnSpc>
                <a:spcPts val="4560"/>
              </a:lnSpc>
            </a:pPr>
            <a:endParaRPr lang="en-US" sz="4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63604" lvl="1" indent="-431802" algn="ctr">
              <a:lnSpc>
                <a:spcPts val="4560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integration between emotion detection and recommendation.</a:t>
            </a:r>
          </a:p>
          <a:p>
            <a:pPr algn="ctr">
              <a:lnSpc>
                <a:spcPts val="4560"/>
              </a:lnSpc>
            </a:pPr>
            <a:endParaRPr lang="en-US" sz="4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90013" y="3252596"/>
            <a:ext cx="12383873" cy="5178711"/>
          </a:xfrm>
          <a:custGeom>
            <a:avLst/>
            <a:gdLst/>
            <a:ahLst/>
            <a:cxnLst/>
            <a:rect l="l" t="t" r="r" b="b"/>
            <a:pathLst>
              <a:path w="12383873" h="5178711">
                <a:moveTo>
                  <a:pt x="0" y="0"/>
                </a:moveTo>
                <a:lnTo>
                  <a:pt x="12383874" y="0"/>
                </a:lnTo>
                <a:lnTo>
                  <a:pt x="12383874" y="5178711"/>
                </a:lnTo>
                <a:lnTo>
                  <a:pt x="0" y="5178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33943" y="626663"/>
            <a:ext cx="4705389" cy="9660337"/>
          </a:xfrm>
          <a:custGeom>
            <a:avLst/>
            <a:gdLst/>
            <a:ahLst/>
            <a:cxnLst/>
            <a:rect l="l" t="t" r="r" b="b"/>
            <a:pathLst>
              <a:path w="4705389" h="9660337">
                <a:moveTo>
                  <a:pt x="0" y="0"/>
                </a:moveTo>
                <a:lnTo>
                  <a:pt x="4705389" y="0"/>
                </a:lnTo>
                <a:lnTo>
                  <a:pt x="4705389" y="9660337"/>
                </a:lnTo>
                <a:lnTo>
                  <a:pt x="0" y="9660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49202" y="7978908"/>
            <a:ext cx="2939215" cy="1987978"/>
          </a:xfrm>
          <a:custGeom>
            <a:avLst/>
            <a:gdLst/>
            <a:ahLst/>
            <a:cxnLst/>
            <a:rect l="l" t="t" r="r" b="b"/>
            <a:pathLst>
              <a:path w="2939215" h="1987978">
                <a:moveTo>
                  <a:pt x="0" y="0"/>
                </a:moveTo>
                <a:lnTo>
                  <a:pt x="2939215" y="0"/>
                </a:lnTo>
                <a:lnTo>
                  <a:pt x="2939215" y="1987978"/>
                </a:lnTo>
                <a:lnTo>
                  <a:pt x="0" y="1987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33015" y="3895915"/>
            <a:ext cx="1039247" cy="1161760"/>
          </a:xfrm>
          <a:custGeom>
            <a:avLst/>
            <a:gdLst/>
            <a:ahLst/>
            <a:cxnLst/>
            <a:rect l="l" t="t" r="r" b="b"/>
            <a:pathLst>
              <a:path w="1039247" h="1161760">
                <a:moveTo>
                  <a:pt x="0" y="0"/>
                </a:moveTo>
                <a:lnTo>
                  <a:pt x="1039247" y="0"/>
                </a:lnTo>
                <a:lnTo>
                  <a:pt x="1039247" y="1161760"/>
                </a:lnTo>
                <a:lnTo>
                  <a:pt x="0" y="1161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65518" y="3839818"/>
            <a:ext cx="1878482" cy="1273953"/>
          </a:xfrm>
          <a:custGeom>
            <a:avLst/>
            <a:gdLst/>
            <a:ahLst/>
            <a:cxnLst/>
            <a:rect l="l" t="t" r="r" b="b"/>
            <a:pathLst>
              <a:path w="1878482" h="1273953">
                <a:moveTo>
                  <a:pt x="0" y="0"/>
                </a:moveTo>
                <a:lnTo>
                  <a:pt x="1878482" y="0"/>
                </a:lnTo>
                <a:lnTo>
                  <a:pt x="1878482" y="1273953"/>
                </a:lnTo>
                <a:lnTo>
                  <a:pt x="0" y="1273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267280" y="3662889"/>
            <a:ext cx="2043609" cy="1480611"/>
          </a:xfrm>
          <a:custGeom>
            <a:avLst/>
            <a:gdLst/>
            <a:ahLst/>
            <a:cxnLst/>
            <a:rect l="l" t="t" r="r" b="b"/>
            <a:pathLst>
              <a:path w="2043609" h="1480611">
                <a:moveTo>
                  <a:pt x="0" y="0"/>
                </a:moveTo>
                <a:lnTo>
                  <a:pt x="2043608" y="0"/>
                </a:lnTo>
                <a:lnTo>
                  <a:pt x="2043608" y="1480611"/>
                </a:lnTo>
                <a:lnTo>
                  <a:pt x="0" y="1480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29957" y="1525396"/>
            <a:ext cx="1030398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510" dirty="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PROPOSED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5549" y="5563021"/>
            <a:ext cx="3394179" cy="196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spc="262">
                <a:solidFill>
                  <a:srgbClr val="584843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Simple, user-friendly interface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47481" y="5699077"/>
            <a:ext cx="3792630" cy="202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spc="270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Combines music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spc="270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e-commerce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spc="270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one platform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0211" y="5832824"/>
            <a:ext cx="3345131" cy="178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sz="3278" spc="239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real-time</a:t>
            </a:r>
          </a:p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sz="3278" spc="239">
                <a:solidFill>
                  <a:srgbClr val="6B4C3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personalization</a:t>
            </a:r>
            <a:r>
              <a:rPr lang="en-US" sz="3278" spc="23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598463" y="-4727198"/>
            <a:ext cx="11091075" cy="19741395"/>
          </a:xfrm>
          <a:custGeom>
            <a:avLst/>
            <a:gdLst/>
            <a:ahLst/>
            <a:cxnLst/>
            <a:rect l="l" t="t" r="r" b="b"/>
            <a:pathLst>
              <a:path w="11091075" h="19741395">
                <a:moveTo>
                  <a:pt x="0" y="0"/>
                </a:moveTo>
                <a:lnTo>
                  <a:pt x="11091074" y="0"/>
                </a:lnTo>
                <a:lnTo>
                  <a:pt x="11091074" y="19741396"/>
                </a:lnTo>
                <a:lnTo>
                  <a:pt x="0" y="19741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65275" y="-2276677"/>
            <a:ext cx="7949423" cy="11239543"/>
          </a:xfrm>
          <a:custGeom>
            <a:avLst/>
            <a:gdLst/>
            <a:ahLst/>
            <a:cxnLst/>
            <a:rect l="l" t="t" r="r" b="b"/>
            <a:pathLst>
              <a:path w="7949423" h="11239543">
                <a:moveTo>
                  <a:pt x="0" y="0"/>
                </a:moveTo>
                <a:lnTo>
                  <a:pt x="7949423" y="0"/>
                </a:lnTo>
                <a:lnTo>
                  <a:pt x="7949423" y="11239543"/>
                </a:lnTo>
                <a:lnTo>
                  <a:pt x="0" y="1123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5054" y="1619567"/>
            <a:ext cx="10579608" cy="7343299"/>
          </a:xfrm>
          <a:custGeom>
            <a:avLst/>
            <a:gdLst/>
            <a:ahLst/>
            <a:cxnLst/>
            <a:rect l="l" t="t" r="r" b="b"/>
            <a:pathLst>
              <a:path w="10579608" h="7343299">
                <a:moveTo>
                  <a:pt x="0" y="0"/>
                </a:moveTo>
                <a:lnTo>
                  <a:pt x="10579607" y="0"/>
                </a:lnTo>
                <a:lnTo>
                  <a:pt x="10579607" y="7343299"/>
                </a:lnTo>
                <a:lnTo>
                  <a:pt x="0" y="73432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33506">
            <a:off x="1762855" y="-475846"/>
            <a:ext cx="5105748" cy="3601680"/>
          </a:xfrm>
          <a:custGeom>
            <a:avLst/>
            <a:gdLst/>
            <a:ahLst/>
            <a:cxnLst/>
            <a:rect l="l" t="t" r="r" b="b"/>
            <a:pathLst>
              <a:path w="5105748" h="3601680">
                <a:moveTo>
                  <a:pt x="0" y="0"/>
                </a:moveTo>
                <a:lnTo>
                  <a:pt x="5105748" y="0"/>
                </a:lnTo>
                <a:lnTo>
                  <a:pt x="5105748" y="3601680"/>
                </a:lnTo>
                <a:lnTo>
                  <a:pt x="0" y="3601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063540">
            <a:off x="584723" y="7282557"/>
            <a:ext cx="1527505" cy="1834340"/>
          </a:xfrm>
          <a:custGeom>
            <a:avLst/>
            <a:gdLst/>
            <a:ahLst/>
            <a:cxnLst/>
            <a:rect l="l" t="t" r="r" b="b"/>
            <a:pathLst>
              <a:path w="1527505" h="1834340">
                <a:moveTo>
                  <a:pt x="0" y="0"/>
                </a:moveTo>
                <a:lnTo>
                  <a:pt x="1527505" y="0"/>
                </a:lnTo>
                <a:lnTo>
                  <a:pt x="1527505" y="1834341"/>
                </a:lnTo>
                <a:lnTo>
                  <a:pt x="0" y="1834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16404" y="8701059"/>
            <a:ext cx="2939215" cy="1987978"/>
          </a:xfrm>
          <a:custGeom>
            <a:avLst/>
            <a:gdLst/>
            <a:ahLst/>
            <a:cxnLst/>
            <a:rect l="l" t="t" r="r" b="b"/>
            <a:pathLst>
              <a:path w="2939215" h="1987978">
                <a:moveTo>
                  <a:pt x="0" y="0"/>
                </a:moveTo>
                <a:lnTo>
                  <a:pt x="2939215" y="0"/>
                </a:lnTo>
                <a:lnTo>
                  <a:pt x="2939215" y="1987978"/>
                </a:lnTo>
                <a:lnTo>
                  <a:pt x="0" y="1987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55619" y="1959001"/>
            <a:ext cx="5598466" cy="11040524"/>
          </a:xfrm>
          <a:custGeom>
            <a:avLst/>
            <a:gdLst/>
            <a:ahLst/>
            <a:cxnLst/>
            <a:rect l="l" t="t" r="r" b="b"/>
            <a:pathLst>
              <a:path w="5598466" h="11040524">
                <a:moveTo>
                  <a:pt x="0" y="0"/>
                </a:moveTo>
                <a:lnTo>
                  <a:pt x="5598466" y="0"/>
                </a:lnTo>
                <a:lnTo>
                  <a:pt x="5598466" y="11040524"/>
                </a:lnTo>
                <a:lnTo>
                  <a:pt x="0" y="11040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 rot="-921126">
            <a:off x="2958786" y="3604071"/>
            <a:ext cx="6289103" cy="247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80"/>
              </a:lnSpc>
            </a:pPr>
            <a:r>
              <a:rPr lang="en-US" sz="1528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Thank</a:t>
            </a:r>
          </a:p>
        </p:txBody>
      </p:sp>
      <p:sp>
        <p:nvSpPr>
          <p:cNvPr id="10" name="TextBox 10"/>
          <p:cNvSpPr txBox="1"/>
          <p:nvPr/>
        </p:nvSpPr>
        <p:spPr>
          <a:xfrm rot="-921126">
            <a:off x="4891254" y="5459327"/>
            <a:ext cx="3752650" cy="22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80"/>
              </a:lnSpc>
            </a:pPr>
            <a:r>
              <a:rPr lang="en-US" sz="15280">
                <a:solidFill>
                  <a:srgbClr val="FFDBD1"/>
                </a:solidFill>
                <a:latin typeface="Barrio"/>
                <a:ea typeface="Barrio"/>
                <a:cs typeface="Barrio"/>
                <a:sym typeface="Barrio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184</Words>
  <Application>Microsoft Office PowerPoint</Application>
  <PresentationFormat>Custom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Barrio</vt:lpstr>
      <vt:lpstr>Times New Roman MT Bold</vt:lpstr>
      <vt:lpstr>Calibri</vt:lpstr>
      <vt:lpstr>Wingdings</vt:lpstr>
      <vt:lpstr>Times New Roman MT</vt:lpstr>
      <vt:lpstr>Quicksand</vt:lpstr>
      <vt:lpstr>Times New Roman MT Bold Italics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TECHFUSION EXPO</dc:title>
  <cp:lastModifiedBy>shreya gunjawate</cp:lastModifiedBy>
  <cp:revision>3</cp:revision>
  <dcterms:created xsi:type="dcterms:W3CDTF">2006-08-16T00:00:00Z</dcterms:created>
  <dcterms:modified xsi:type="dcterms:W3CDTF">2026-07-04T09:33:24Z</dcterms:modified>
  <dc:identifier>DAG1CbOYTnc</dc:identifier>
</cp:coreProperties>
</file>